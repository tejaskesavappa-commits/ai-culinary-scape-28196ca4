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4" r:id="rId4"/>
    <p:sldId id="267" r:id="rId5"/>
    <p:sldId id="268" r:id="rId6"/>
    <p:sldId id="258" r:id="rId7"/>
    <p:sldId id="269" r:id="rId8"/>
    <p:sldId id="260" r:id="rId9"/>
    <p:sldId id="261" r:id="rId10"/>
    <p:sldId id="270" r:id="rId11"/>
    <p:sldId id="262" r:id="rId12"/>
    <p:sldId id="271" r:id="rId13"/>
    <p:sldId id="272" r:id="rId14"/>
    <p:sldId id="266" r:id="rId15"/>
    <p:sldId id="273" r:id="rId16"/>
    <p:sldId id="263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EEF"/>
    <a:srgbClr val="193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B084D2-8074-4789-ACDD-7F4EE31D061B}" v="22" dt="2025-12-12T11:46:30.4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063DF40-A8A3-4DA3-BD7C-9127AEC766A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22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29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CAB86D0-B768-4562-89BC-E8787C2A996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462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3D7F70-3C44-4A10-B402-237D081EF68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95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C37DAC8-FAEE-4EBF-9802-8F4C1CDBA59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88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24F67EE-8DD9-4074-B7FD-52ECB918F0F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413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flipV="1">
            <a:off x="0" y="-237847"/>
            <a:ext cx="9144000" cy="4266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6A4F2C6-3A16-428D-8890-8CD81BD7772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C45B1E-3714-436F-A336-26E1E49CD898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511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ABE1673-0D0B-4441-9CB1-B21E39A3144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002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214C546-1FC5-4073-85DF-A5463AB3A4F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076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58E50A4-9416-4E34-AD0E-4D28205B3AB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736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F098787-47D2-48A9-9C71-66F5A7452A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117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4723805" y="446484"/>
            <a:ext cx="3750469" cy="578643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669727" y="446484"/>
            <a:ext cx="3750469" cy="2803922"/>
          </a:xfrm>
          <a:prstGeom prst="rect">
            <a:avLst/>
          </a:prstGeom>
        </p:spPr>
        <p:txBody>
          <a:bodyPr anchor="b"/>
          <a:lstStyle>
            <a:lvl1pPr>
              <a:defRPr sz="3164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669727" y="3348634"/>
            <a:ext cx="3750469" cy="288428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88"/>
            </a:lvl1pPr>
            <a:lvl2pPr marL="0" indent="120547" algn="ctr">
              <a:spcBef>
                <a:spcPts val="0"/>
              </a:spcBef>
              <a:buSzTx/>
              <a:buNone/>
              <a:defRPr sz="1688"/>
            </a:lvl2pPr>
            <a:lvl3pPr marL="0" indent="241093" algn="ctr">
              <a:spcBef>
                <a:spcPts val="0"/>
              </a:spcBef>
              <a:buSzTx/>
              <a:buNone/>
              <a:defRPr sz="1688"/>
            </a:lvl3pPr>
            <a:lvl4pPr marL="0" indent="361640" algn="ctr">
              <a:spcBef>
                <a:spcPts val="0"/>
              </a:spcBef>
              <a:buSzTx/>
              <a:buNone/>
              <a:defRPr sz="1688"/>
            </a:lvl4pPr>
            <a:lvl5pPr marL="0" indent="482186" algn="ctr">
              <a:spcBef>
                <a:spcPts val="0"/>
              </a:spcBef>
              <a:buSzTx/>
              <a:buNone/>
              <a:defRPr sz="1688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71759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311701" y="842402"/>
            <a:ext cx="2807999" cy="10075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buSzPct val="100000"/>
              <a:defRPr sz="1800"/>
            </a:lvl4pPr>
            <a:lvl5pPr lvl="4">
              <a:spcBef>
                <a:spcPts val="0"/>
              </a:spcBef>
              <a:buSzPct val="100000"/>
              <a:defRPr sz="1800"/>
            </a:lvl5pPr>
            <a:lvl6pPr lvl="5">
              <a:spcBef>
                <a:spcPts val="0"/>
              </a:spcBef>
              <a:buSzPct val="100000"/>
              <a:defRPr sz="1800"/>
            </a:lvl6pPr>
            <a:lvl7pPr lvl="6">
              <a:spcBef>
                <a:spcPts val="0"/>
              </a:spcBef>
              <a:buSzPct val="100000"/>
              <a:defRPr sz="1800"/>
            </a:lvl7pPr>
            <a:lvl8pPr lvl="7">
              <a:spcBef>
                <a:spcPts val="0"/>
              </a:spcBef>
              <a:buSzPct val="100000"/>
              <a:defRPr sz="1800"/>
            </a:lvl8pPr>
            <a:lvl9pPr lvl="8">
              <a:spcBef>
                <a:spcPts val="0"/>
              </a:spcBef>
              <a:buSzPct val="100000"/>
              <a:defRPr sz="18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311701" y="2157604"/>
            <a:ext cx="2807999" cy="393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900"/>
            </a:lvl1pPr>
            <a:lvl2pPr lvl="1">
              <a:spcBef>
                <a:spcPts val="0"/>
              </a:spcBef>
              <a:buSzPct val="100000"/>
              <a:defRPr sz="900"/>
            </a:lvl2pPr>
            <a:lvl3pPr lvl="2">
              <a:spcBef>
                <a:spcPts val="0"/>
              </a:spcBef>
              <a:buSzPct val="100000"/>
              <a:defRPr sz="900"/>
            </a:lvl3pPr>
            <a:lvl4pPr lvl="3">
              <a:spcBef>
                <a:spcPts val="0"/>
              </a:spcBef>
              <a:buSzPct val="100000"/>
              <a:defRPr sz="900"/>
            </a:lvl4pPr>
            <a:lvl5pPr lvl="4">
              <a:spcBef>
                <a:spcPts val="0"/>
              </a:spcBef>
              <a:buSzPct val="100000"/>
              <a:defRPr sz="900"/>
            </a:lvl5pPr>
            <a:lvl6pPr lvl="5">
              <a:spcBef>
                <a:spcPts val="0"/>
              </a:spcBef>
              <a:buSzPct val="100000"/>
              <a:defRPr sz="900"/>
            </a:lvl6pPr>
            <a:lvl7pPr lvl="6">
              <a:spcBef>
                <a:spcPts val="0"/>
              </a:spcBef>
              <a:buSzPct val="100000"/>
              <a:defRPr sz="900"/>
            </a:lvl7pPr>
            <a:lvl8pPr lvl="7">
              <a:spcBef>
                <a:spcPts val="0"/>
              </a:spcBef>
              <a:buSzPct val="100000"/>
              <a:defRPr sz="900"/>
            </a:lvl8pPr>
            <a:lvl9pPr lvl="8">
              <a:spcBef>
                <a:spcPts val="0"/>
              </a:spcBef>
              <a:buSzPct val="100000"/>
              <a:defRPr sz="900"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8472458" y="6217621"/>
            <a:ext cx="5486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>
                <a:solidFill>
                  <a:prstClr val="white"/>
                </a:solidFill>
              </a:rPr>
              <a:pPr/>
              <a:t>‹#›</a:t>
            </a:fld>
            <a:endParaRPr lang="en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633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7" y="351211"/>
            <a:ext cx="8382000" cy="553998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1" y="1411553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020015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21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xfrm>
            <a:off x="669727" y="312540"/>
            <a:ext cx="7804547" cy="151804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68422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429002"/>
            <a:ext cx="9144000" cy="3428999"/>
          </a:xfrm>
          <a:prstGeom prst="rect">
            <a:avLst/>
          </a:prstGeom>
          <a:solidFill>
            <a:srgbClr val="5853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0" y="2"/>
            <a:ext cx="9144000" cy="3428999"/>
          </a:xfrm>
          <a:prstGeom prst="rect">
            <a:avLst/>
          </a:prstGeom>
          <a:solidFill>
            <a:srgbClr val="ADB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461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1" y="0"/>
            <a:ext cx="7043208" cy="15234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40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6" y="4344989"/>
            <a:ext cx="7043208" cy="4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342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22050" y="2355850"/>
            <a:ext cx="7690114" cy="1384994"/>
          </a:xfrm>
          <a:prstGeom prst="rect">
            <a:avLst/>
          </a:prstGeo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7499" b="1" i="1" u="none" strike="noStrike" kern="1200" cap="none" spc="-48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264034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767" y="11752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1" y="6492876"/>
            <a:ext cx="9144000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626821" y="584452"/>
            <a:ext cx="8517179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-1" y="6590108"/>
            <a:ext cx="9144001" cy="267893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pPr defTabSz="342900"/>
            <a:fld id="{01C45B1E-3714-436F-A336-26E1E49CD898}" type="slidenum">
              <a:rPr lang="en-US" smtClean="0">
                <a:solidFill>
                  <a:prstClr val="white"/>
                </a:solidFill>
              </a:rPr>
              <a:pPr defTabSz="342900"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93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134672" cy="1442591"/>
          </a:xfrm>
        </p:spPr>
        <p:txBody>
          <a:bodyPr>
            <a:normAutofit/>
          </a:bodyPr>
          <a:lstStyle/>
          <a:p>
            <a:r>
              <a:rPr lang="en-IN" dirty="0"/>
              <a:t>Food Delivery Website</a:t>
            </a:r>
          </a:p>
        </p:txBody>
      </p:sp>
    </p:spTree>
    <p:extLst>
      <p:ext uri="{BB962C8B-B14F-4D97-AF65-F5344CB8AC3E}">
        <p14:creationId xmlns:p14="http://schemas.microsoft.com/office/powerpoint/2010/main" val="2905963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food delivery apps face several challenges that reduce user satisfaction and operational efficiency.</a:t>
            </a:r>
            <a:br>
              <a:rPr lang="en-US" dirty="0"/>
            </a:br>
            <a:r>
              <a:rPr lang="en-US" dirty="0"/>
              <a:t>Users often experience:</a:t>
            </a:r>
          </a:p>
          <a:p>
            <a:r>
              <a:rPr lang="en-US" b="1" dirty="0"/>
              <a:t>Difficulty choosing food</a:t>
            </a:r>
            <a:r>
              <a:rPr lang="en-US" dirty="0"/>
              <a:t> due to overwhelming menu options.</a:t>
            </a:r>
          </a:p>
          <a:p>
            <a:r>
              <a:rPr lang="en-US" b="1" dirty="0"/>
              <a:t>Lack of personalization</a:t>
            </a:r>
            <a:r>
              <a:rPr lang="en-US" dirty="0"/>
              <a:t>, resulting in irrelevant or repetitive suggestions.</a:t>
            </a:r>
          </a:p>
          <a:p>
            <a:r>
              <a:rPr lang="en-US" b="1" dirty="0"/>
              <a:t>Unreliable real-time order updates</a:t>
            </a:r>
            <a:r>
              <a:rPr lang="en-US" dirty="0"/>
              <a:t> and poor delivery tracking.</a:t>
            </a:r>
          </a:p>
          <a:p>
            <a:r>
              <a:rPr lang="en-US" b="1" dirty="0"/>
              <a:t>Delayed or failed payments</a:t>
            </a:r>
            <a:r>
              <a:rPr lang="en-US" dirty="0"/>
              <a:t> due to complex payment flows.</a:t>
            </a:r>
          </a:p>
          <a:p>
            <a:r>
              <a:rPr lang="en-US" b="1" dirty="0"/>
              <a:t>Restaurant-side inefficiencies</a:t>
            </a:r>
            <a:r>
              <a:rPr lang="en-US" dirty="0"/>
              <a:t>, such as slow order acceptance and poor visibility of ongoing orders.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44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Product/ Solution - Innovation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E73E46-C15E-EB77-FD21-75AC44D0B8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food recommendations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personalized choices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tracking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live delivery updates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Seamless digital payments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instant confirmation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restaurant dashboard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faster order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Clean, user-friendly interface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quick and easy ordering</a:t>
            </a:r>
          </a:p>
        </p:txBody>
      </p:sp>
    </p:spTree>
    <p:extLst>
      <p:ext uri="{BB962C8B-B14F-4D97-AF65-F5344CB8AC3E}">
        <p14:creationId xmlns:p14="http://schemas.microsoft.com/office/powerpoint/2010/main" val="251730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E7802-EB1A-E8E8-054D-620809A7B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Solves the Problems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C347C-812D-4E8E-DAB1-A513543E5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B85508B-09B3-84E6-89D7-3362F97DBC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Suggestions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 confusion and help users quickly pick the right meal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tracking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removes uncertainty and improves delivery transparency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Instant digital payments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prevent delays and failed transactions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restaurant dashboard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speeds up order preparation and reduces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Smooth UI flow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faster ordering with fewer steps</a:t>
            </a:r>
          </a:p>
        </p:txBody>
      </p:sp>
    </p:spTree>
    <p:extLst>
      <p:ext uri="{BB962C8B-B14F-4D97-AF65-F5344CB8AC3E}">
        <p14:creationId xmlns:p14="http://schemas.microsoft.com/office/powerpoint/2010/main" val="1219199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50370-B6B1-B6FF-5508-11D2CE083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 of Innovation</a:t>
            </a:r>
            <a:br>
              <a:rPr lang="en-US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876E7-6EC4-980A-7902-56D9D81E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59263C1-970F-F491-548D-6DBE6AFD0A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2767" y="2058209"/>
            <a:ext cx="777648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Innovation: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Introduces AI-powered food discovery and real-time tracking as a smarter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alternative to traditional food delivery apps.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Innovation: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Streamlines ordering, payment, and restaurant operations with automated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workflows and live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Experience Innovation: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user satisfaction through personalization, intuitive UI,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transparent delivery visibility.</a:t>
            </a:r>
          </a:p>
        </p:txBody>
      </p:sp>
    </p:spTree>
    <p:extLst>
      <p:ext uri="{BB962C8B-B14F-4D97-AF65-F5344CB8AC3E}">
        <p14:creationId xmlns:p14="http://schemas.microsoft.com/office/powerpoint/2010/main" val="2175105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Product/ Solution - Readiness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783" y="1268760"/>
            <a:ext cx="7886700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1" dirty="0"/>
              <a:t>Product / Solution – Readiness Level</a:t>
            </a:r>
          </a:p>
          <a:p>
            <a:r>
              <a:rPr lang="en-US" b="1" dirty="0"/>
              <a:t>Prototype Completed:</a:t>
            </a:r>
            <a:br>
              <a:rPr lang="en-US" dirty="0"/>
            </a:br>
            <a:r>
              <a:rPr lang="en-US" dirty="0"/>
              <a:t>Core modules like user login, restaurant listing, ordering, payments, and tracking are functional.</a:t>
            </a:r>
          </a:p>
          <a:p>
            <a:r>
              <a:rPr lang="en-US" b="1" dirty="0"/>
              <a:t>AI Recommendation MVP Ready:</a:t>
            </a:r>
            <a:br>
              <a:rPr lang="en-US" dirty="0"/>
            </a:br>
            <a:r>
              <a:rPr lang="en-US" dirty="0"/>
              <a:t>Basic rule-based recommendation engine implemented; can be upgraded to ML.</a:t>
            </a:r>
          </a:p>
          <a:p>
            <a:r>
              <a:rPr lang="en-US" b="1" dirty="0"/>
              <a:t>End-to-End Workflow Tested:</a:t>
            </a:r>
            <a:br>
              <a:rPr lang="en-US" dirty="0"/>
            </a:br>
            <a:r>
              <a:rPr lang="en-US" dirty="0"/>
              <a:t>Users can browse → order → pay → track → receive delivery successfully.</a:t>
            </a:r>
          </a:p>
          <a:p>
            <a:r>
              <a:rPr lang="en-US" b="1" dirty="0"/>
              <a:t>Deployment-Ready Architecture:</a:t>
            </a:r>
            <a:br>
              <a:rPr lang="en-US" dirty="0"/>
            </a:br>
            <a:r>
              <a:rPr lang="en-US" dirty="0"/>
              <a:t>Frontend, backend, and database are integrated and can run locally or on a cloud server.</a:t>
            </a:r>
          </a:p>
          <a:p>
            <a:r>
              <a:rPr lang="en-US" b="1" dirty="0"/>
              <a:t>Suitable for Pilot Launch:</a:t>
            </a:r>
            <a:br>
              <a:rPr lang="en-US" dirty="0"/>
            </a:br>
            <a:r>
              <a:rPr lang="en-US" dirty="0"/>
              <a:t>Platform is stable enough for real-user testing with limited restaurants.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6C444-88CB-4118-6A98-ADC3EB966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Post the images of  product</a:t>
            </a:r>
            <a:br>
              <a:rPr lang="en-US" dirty="0">
                <a:ea typeface="Calibri"/>
                <a:cs typeface="Calibri"/>
              </a:rPr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E4A07-A46B-1B0B-51FC-1154AB63D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052BF00-C197-20AE-62C0-A9230A53B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287"/>
            <a:ext cx="9143999" cy="2521249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13333D-F292-C3FE-6093-951D14228F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8416"/>
            <a:ext cx="9144000" cy="303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91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Team Size, Background, Strength /Capability and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25E052-6154-E193-9C81-214843DDBF8D}"/>
              </a:ext>
            </a:extLst>
          </p:cNvPr>
          <p:cNvSpPr/>
          <p:nvPr/>
        </p:nvSpPr>
        <p:spPr>
          <a:xfrm>
            <a:off x="622767" y="1185519"/>
            <a:ext cx="3193329" cy="21428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rgbClr val="FF0000"/>
                </a:solidFill>
              </a:rPr>
              <a:t>Member-1</a:t>
            </a:r>
          </a:p>
          <a:p>
            <a:r>
              <a:rPr lang="en-IN" sz="1400" b="1" dirty="0"/>
              <a:t>Name:</a:t>
            </a:r>
            <a:r>
              <a:rPr lang="en-IN" sz="1400" dirty="0"/>
              <a:t> TEJAS K</a:t>
            </a:r>
            <a:br>
              <a:rPr lang="en-IN" sz="1400" dirty="0"/>
            </a:br>
            <a:r>
              <a:rPr lang="en-IN" sz="1400" b="1" dirty="0"/>
              <a:t>Designation:</a:t>
            </a:r>
            <a:r>
              <a:rPr lang="en-IN" sz="1400" dirty="0"/>
              <a:t> Backend Developer</a:t>
            </a:r>
            <a:br>
              <a:rPr lang="en-IN" sz="1400" dirty="0"/>
            </a:br>
            <a:r>
              <a:rPr lang="en-IN" sz="1400" b="1" dirty="0"/>
              <a:t>Individual Contribution to Product:</a:t>
            </a:r>
            <a:r>
              <a:rPr lang="en-IN" sz="1400" dirty="0"/>
              <a:t> Designed and implemented the backend using Flask/Node.js; developed RESTful APIs for chatbot, user management, and data storage; integrated database and ensured secure data handling.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C70390-53A0-494E-F2B0-6A389AAB41C5}"/>
              </a:ext>
            </a:extLst>
          </p:cNvPr>
          <p:cNvSpPr/>
          <p:nvPr/>
        </p:nvSpPr>
        <p:spPr>
          <a:xfrm>
            <a:off x="567415" y="3338734"/>
            <a:ext cx="3304032" cy="22434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rgbClr val="FF0000"/>
                </a:solidFill>
              </a:rPr>
              <a:t>Member-3</a:t>
            </a:r>
          </a:p>
          <a:p>
            <a:r>
              <a:rPr lang="en-IN" sz="1400" b="1" dirty="0"/>
              <a:t>Name:</a:t>
            </a:r>
            <a:r>
              <a:rPr lang="en-IN" sz="1400" dirty="0"/>
              <a:t> Y RAKESH</a:t>
            </a:r>
            <a:br>
              <a:rPr lang="en-IN" sz="1400" dirty="0"/>
            </a:br>
            <a:r>
              <a:rPr lang="en-IN" sz="1400" b="1" dirty="0"/>
              <a:t>Designation:</a:t>
            </a:r>
            <a:r>
              <a:rPr lang="en-IN" sz="1400" dirty="0"/>
              <a:t> Tester</a:t>
            </a:r>
            <a:br>
              <a:rPr lang="en-IN" sz="1400" dirty="0"/>
            </a:br>
            <a:r>
              <a:rPr lang="en-IN" sz="1400" b="1" dirty="0"/>
              <a:t>Individual Contribution to Product:</a:t>
            </a:r>
            <a:r>
              <a:rPr lang="en-US" sz="1400" dirty="0"/>
              <a:t> focused on maintaining high product quality, validating all user journeys, and ensuring the </a:t>
            </a:r>
            <a:r>
              <a:rPr lang="en-US" sz="1400" dirty="0" err="1"/>
              <a:t>SmartBite</a:t>
            </a:r>
            <a:r>
              <a:rPr lang="en-US" sz="1400" dirty="0"/>
              <a:t> platform delivers a smooth, error-free experience to customers and restaurant partners.</a:t>
            </a:r>
            <a:endParaRPr lang="en-IN" sz="1400" b="1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1F73D7-1604-8189-0DEE-765C30E9CC6D}"/>
              </a:ext>
            </a:extLst>
          </p:cNvPr>
          <p:cNvSpPr/>
          <p:nvPr/>
        </p:nvSpPr>
        <p:spPr>
          <a:xfrm>
            <a:off x="5315712" y="1185519"/>
            <a:ext cx="3205521" cy="2020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rgbClr val="FF0000"/>
                </a:solidFill>
              </a:rPr>
              <a:t>Member-2</a:t>
            </a:r>
          </a:p>
          <a:p>
            <a:r>
              <a:rPr lang="en-US" sz="1400" b="1" dirty="0"/>
              <a:t>Name:</a:t>
            </a:r>
            <a:r>
              <a:rPr lang="en-US" sz="1400" dirty="0"/>
              <a:t> </a:t>
            </a:r>
            <a:r>
              <a:rPr lang="en-IN" sz="1400" dirty="0"/>
              <a:t>S VINEET</a:t>
            </a:r>
            <a:br>
              <a:rPr lang="en-US" sz="1400" dirty="0"/>
            </a:br>
            <a:r>
              <a:rPr lang="en-US" sz="1400" b="1" dirty="0"/>
              <a:t>Designation:</a:t>
            </a:r>
            <a:r>
              <a:rPr lang="en-US" sz="1400" dirty="0"/>
              <a:t> Frontend Developer</a:t>
            </a:r>
            <a:br>
              <a:rPr lang="en-US" sz="1400" dirty="0"/>
            </a:br>
            <a:r>
              <a:rPr lang="en-US" sz="1400" b="1" dirty="0"/>
              <a:t>Individual Contribution to Product:</a:t>
            </a:r>
            <a:r>
              <a:rPr lang="en-US" sz="1400" dirty="0"/>
              <a:t> Built the responsive web interface using React and Tailwind CSS; developed chatbot UI, HR dashboard, and forms for onboarding and exit interviews; ensured smooth user experience.</a:t>
            </a:r>
            <a:endParaRPr lang="en-IN" sz="1400" b="1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9B185F-5E1A-A013-8BC6-CBC3E5928548}"/>
              </a:ext>
            </a:extLst>
          </p:cNvPr>
          <p:cNvSpPr/>
          <p:nvPr/>
        </p:nvSpPr>
        <p:spPr>
          <a:xfrm>
            <a:off x="5315712" y="3328416"/>
            <a:ext cx="3260873" cy="22084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rgbClr val="FF0000"/>
                </a:solidFill>
              </a:rPr>
              <a:t>Member-4</a:t>
            </a:r>
          </a:p>
          <a:p>
            <a:r>
              <a:rPr lang="en-IN" sz="1400" b="1" dirty="0"/>
              <a:t>Name:</a:t>
            </a:r>
            <a:r>
              <a:rPr lang="en-IN" sz="1400" dirty="0"/>
              <a:t> </a:t>
            </a:r>
            <a:r>
              <a:rPr lang="en-IN" sz="1400" dirty="0" err="1"/>
              <a:t>T.John</a:t>
            </a:r>
            <a:r>
              <a:rPr lang="en-IN" sz="1400" dirty="0"/>
              <a:t> White</a:t>
            </a:r>
            <a:br>
              <a:rPr lang="en-IN" sz="1400" dirty="0"/>
            </a:br>
            <a:r>
              <a:rPr lang="en-IN" sz="1400" b="1" dirty="0"/>
              <a:t>Designation:</a:t>
            </a:r>
            <a:r>
              <a:rPr lang="en-IN" sz="1400" dirty="0"/>
              <a:t> Frontend and Backend Connector</a:t>
            </a:r>
            <a:br>
              <a:rPr lang="en-IN" sz="1400" dirty="0"/>
            </a:br>
            <a:r>
              <a:rPr lang="en-IN" sz="1400" b="1" dirty="0"/>
              <a:t>Individual Contribution to Product:</a:t>
            </a:r>
            <a:r>
              <a:rPr lang="en-US" sz="1400" dirty="0"/>
              <a:t> ensured that the </a:t>
            </a:r>
            <a:r>
              <a:rPr lang="en-US" sz="1400" dirty="0" err="1"/>
              <a:t>SmartBite</a:t>
            </a:r>
            <a:r>
              <a:rPr lang="en-US" sz="1400" dirty="0"/>
              <a:t> platform functioned seamlessly as a unified system, bridging the gap between the frontend user interface and backend data operations for a fast and reliable food delivery experience.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Market Landscape - Market Potential, Competitors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1400" b="1" dirty="0"/>
              <a:t>📈 Market Potential</a:t>
            </a:r>
          </a:p>
          <a:p>
            <a:r>
              <a:rPr lang="en-US" sz="1400" dirty="0"/>
              <a:t>Online food delivery market in India is growing rapidly, projected to reach </a:t>
            </a:r>
            <a:r>
              <a:rPr lang="en-US" sz="1400" b="1" dirty="0"/>
              <a:t>$20+ billion</a:t>
            </a:r>
            <a:r>
              <a:rPr lang="en-US" sz="1400" dirty="0"/>
              <a:t> in the next few years.</a:t>
            </a:r>
          </a:p>
          <a:p>
            <a:r>
              <a:rPr lang="en-US" sz="1400" dirty="0"/>
              <a:t>Increased smartphone usage, UPI payments, and demand for convenience are driving adoption.</a:t>
            </a:r>
          </a:p>
          <a:p>
            <a:r>
              <a:rPr lang="en-US" sz="1400" dirty="0"/>
              <a:t>Rising interest in </a:t>
            </a:r>
            <a:r>
              <a:rPr lang="en-US" sz="1400" b="1" dirty="0"/>
              <a:t>personalized, AI-driven experiences</a:t>
            </a:r>
            <a:r>
              <a:rPr lang="en-US" sz="1400" dirty="0"/>
              <a:t> gives FOODIEXPRESS a strong advantage.</a:t>
            </a:r>
          </a:p>
          <a:p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🏆 Key Competitors</a:t>
            </a:r>
          </a:p>
          <a:p>
            <a:r>
              <a:rPr lang="en-US" sz="1400" b="1" dirty="0"/>
              <a:t>Swiggy</a:t>
            </a:r>
            <a:r>
              <a:rPr lang="en-US" sz="1400" dirty="0"/>
              <a:t> – large network, strong delivery ecosystem</a:t>
            </a:r>
          </a:p>
          <a:p>
            <a:r>
              <a:rPr lang="en-US" sz="1400" b="1" dirty="0"/>
              <a:t>Zomato</a:t>
            </a:r>
            <a:r>
              <a:rPr lang="en-US" sz="1400" dirty="0"/>
              <a:t> – extensive restaurant partnerships, offers &amp; promotions</a:t>
            </a:r>
          </a:p>
          <a:p>
            <a:r>
              <a:rPr lang="en-US" sz="1400" b="1" dirty="0"/>
              <a:t>Uber Eats (historically)</a:t>
            </a:r>
            <a:r>
              <a:rPr lang="en-US" sz="1400" dirty="0"/>
              <a:t> – tech-driven experience</a:t>
            </a:r>
          </a:p>
          <a:p>
            <a:r>
              <a:rPr lang="en-US" sz="1400" dirty="0"/>
              <a:t>Local food delivery apps in Tier-2/3 cities</a:t>
            </a:r>
          </a:p>
          <a:p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🎯 Competitive Edge of FOODIEXPRESS</a:t>
            </a:r>
          </a:p>
          <a:p>
            <a:r>
              <a:rPr lang="en-US" sz="1400" dirty="0"/>
              <a:t>AI-powered personalization (unique differentiator)</a:t>
            </a:r>
          </a:p>
          <a:p>
            <a:r>
              <a:rPr lang="en-US" sz="1400" dirty="0"/>
              <a:t>Transparent real-time tracking</a:t>
            </a:r>
          </a:p>
          <a:p>
            <a:r>
              <a:rPr lang="en-US" sz="1400" dirty="0"/>
              <a:t>Faster, smoother ordering experience</a:t>
            </a:r>
          </a:p>
          <a:p>
            <a:r>
              <a:rPr lang="en-US" sz="1400" dirty="0"/>
              <a:t>Designed for small/local restaurants to onboard easily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E1355-16A2-87DC-F5F2-7CEDAD424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Market Landscape - Market Potential, Competitors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79833-3272-55A6-8A9C-27E1E9EAB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D7C55-FB17-62FE-AEA4-3EB005F2E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67" y="1645919"/>
            <a:ext cx="7886700" cy="3880620"/>
          </a:xfrm>
        </p:spPr>
        <p:txBody>
          <a:bodyPr/>
          <a:lstStyle/>
          <a:p>
            <a:r>
              <a:rPr lang="en-US" b="1" dirty="0"/>
              <a:t>Major Competitors in the Food Delivery Market</a:t>
            </a:r>
          </a:p>
          <a:p>
            <a:r>
              <a:rPr lang="en-US" b="1" dirty="0"/>
              <a:t>Swiggy</a:t>
            </a:r>
            <a:r>
              <a:rPr lang="en-US" dirty="0"/>
              <a:t> – Strong logistics network &amp; wide restaurant coverage</a:t>
            </a:r>
          </a:p>
          <a:p>
            <a:r>
              <a:rPr lang="en-US" b="1" dirty="0"/>
              <a:t>Zomato</a:t>
            </a:r>
            <a:r>
              <a:rPr lang="en-US" dirty="0"/>
              <a:t> – Large customer base, heavy discounts, strong brand presence</a:t>
            </a:r>
          </a:p>
          <a:p>
            <a:r>
              <a:rPr lang="en-US" b="1" dirty="0"/>
              <a:t>How FOODIEXPRESS Stands Out</a:t>
            </a:r>
          </a:p>
          <a:p>
            <a:r>
              <a:rPr lang="en-US" dirty="0"/>
              <a:t>AI-driven personalized food recommendations</a:t>
            </a:r>
          </a:p>
          <a:p>
            <a:r>
              <a:rPr lang="en-US" dirty="0"/>
              <a:t>Lightweight, faster ordering workflow</a:t>
            </a:r>
          </a:p>
          <a:p>
            <a:r>
              <a:rPr lang="en-US" dirty="0"/>
              <a:t>More transparent real-time tracking</a:t>
            </a:r>
          </a:p>
          <a:p>
            <a:r>
              <a:rPr lang="en-US" dirty="0"/>
              <a:t>Better onboarding for small/local restaurants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5813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Business Model &amp;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 dirty="0"/>
              <a:t>Business Model &amp; Strategy</a:t>
            </a:r>
          </a:p>
          <a:p>
            <a:r>
              <a:rPr lang="en-US" b="1" dirty="0"/>
              <a:t>💰 Revenue Model</a:t>
            </a:r>
          </a:p>
          <a:p>
            <a:r>
              <a:rPr lang="en-US" b="1" dirty="0"/>
              <a:t>Commission per order</a:t>
            </a:r>
            <a:r>
              <a:rPr lang="en-US" dirty="0"/>
              <a:t> from partnered restaurants</a:t>
            </a:r>
          </a:p>
          <a:p>
            <a:r>
              <a:rPr lang="en-US" b="1" dirty="0"/>
              <a:t>Delivery fee</a:t>
            </a:r>
            <a:r>
              <a:rPr lang="en-US" dirty="0"/>
              <a:t> charged to customers</a:t>
            </a:r>
          </a:p>
          <a:p>
            <a:r>
              <a:rPr lang="en-US" b="1" dirty="0"/>
              <a:t>Subscription model</a:t>
            </a:r>
            <a:r>
              <a:rPr lang="en-US" dirty="0"/>
              <a:t> for restaurants (premium analytics, priority listing)</a:t>
            </a:r>
          </a:p>
          <a:p>
            <a:r>
              <a:rPr lang="en-US" b="1" dirty="0"/>
              <a:t>Advertisement slots</a:t>
            </a:r>
            <a:r>
              <a:rPr lang="en-US" dirty="0"/>
              <a:t> for restaurants to boost visibility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📌 Strategy</a:t>
            </a:r>
          </a:p>
          <a:p>
            <a:r>
              <a:rPr lang="en-US" dirty="0"/>
              <a:t>Target </a:t>
            </a:r>
            <a:r>
              <a:rPr lang="en-US" b="1" dirty="0"/>
              <a:t>college students, office-goers, and urban users</a:t>
            </a:r>
            <a:endParaRPr lang="en-US" dirty="0"/>
          </a:p>
          <a:p>
            <a:r>
              <a:rPr lang="en-US" dirty="0"/>
              <a:t>Focus on </a:t>
            </a:r>
            <a:r>
              <a:rPr lang="en-US" b="1" dirty="0"/>
              <a:t>Tier-2 &amp; Tier-3 cities</a:t>
            </a:r>
            <a:r>
              <a:rPr lang="en-US" dirty="0"/>
              <a:t> with less competition</a:t>
            </a:r>
          </a:p>
          <a:p>
            <a:r>
              <a:rPr lang="en-US" dirty="0"/>
              <a:t>Use </a:t>
            </a:r>
            <a:r>
              <a:rPr lang="en-US" b="1" dirty="0"/>
              <a:t>AI personalization</a:t>
            </a:r>
            <a:r>
              <a:rPr lang="en-US" dirty="0"/>
              <a:t> to improve repeat orders</a:t>
            </a:r>
          </a:p>
          <a:p>
            <a:r>
              <a:rPr lang="en-US" dirty="0"/>
              <a:t>Onboard </a:t>
            </a:r>
            <a:r>
              <a:rPr lang="en-US" b="1" dirty="0"/>
              <a:t>local restaurants quickly</a:t>
            </a:r>
            <a:r>
              <a:rPr lang="en-US" dirty="0"/>
              <a:t> with simple dashboards</a:t>
            </a:r>
          </a:p>
          <a:p>
            <a:r>
              <a:rPr lang="en-US" dirty="0"/>
              <a:t>Build user trust with </a:t>
            </a:r>
            <a:r>
              <a:rPr lang="en-US" b="1" dirty="0"/>
              <a:t>accurate real-time tracking</a:t>
            </a:r>
            <a:r>
              <a:rPr lang="en-US" dirty="0"/>
              <a:t> and </a:t>
            </a:r>
            <a:r>
              <a:rPr lang="en-US" b="1" dirty="0"/>
              <a:t>fast checkout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C0208-CF9E-8DF2-D406-B583ABA6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07399-D9E2-8B1C-0D87-C160316AD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1. Commission-Based Revenue</a:t>
            </a:r>
          </a:p>
          <a:p>
            <a:r>
              <a:rPr lang="en-US" dirty="0"/>
              <a:t>A small commission is charged to restaurants for every successful order processed.</a:t>
            </a:r>
          </a:p>
          <a:p>
            <a:r>
              <a:rPr lang="en-US" b="1" dirty="0"/>
              <a:t>2. Delivery Fee</a:t>
            </a:r>
          </a:p>
          <a:p>
            <a:r>
              <a:rPr lang="en-US" dirty="0"/>
              <a:t>Customers pay a nominal delivery charge based on distance and demand.</a:t>
            </a:r>
          </a:p>
          <a:p>
            <a:r>
              <a:rPr lang="en-US" b="1" dirty="0"/>
              <a:t>3. Restaurant Subscription Plans</a:t>
            </a:r>
          </a:p>
          <a:p>
            <a:r>
              <a:rPr lang="en-US" dirty="0"/>
              <a:t>Premium features like priority listing, analytics, and promotional tools available through monthly subscriptions.</a:t>
            </a:r>
          </a:p>
          <a:p>
            <a:r>
              <a:rPr lang="en-US" b="1" dirty="0"/>
              <a:t>4. In-App Promotions &amp; Advertisements</a:t>
            </a:r>
          </a:p>
          <a:p>
            <a:r>
              <a:rPr lang="en-US" dirty="0"/>
              <a:t>Restaurants can pay for highlighted placements, banner ads, or featured listings.</a:t>
            </a:r>
          </a:p>
          <a:p>
            <a:r>
              <a:rPr lang="en-US" b="1" dirty="0"/>
              <a:t>5. Data-Driven Insights (Future Model)</a:t>
            </a:r>
          </a:p>
          <a:p>
            <a:r>
              <a:rPr lang="en-US" dirty="0"/>
              <a:t>Aggregate insights (non-personalized) offered to restaurants to optimize menus and pricing.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689F8-C355-02D0-CD1D-3F226172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48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C536B-56A9-5ADA-6EE8-8D6EBC90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Revenue Sharing: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4C41E-1898-A39E-FD5F-C233456FA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F1E6CF-E441-D62C-080B-C666809BE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1. Commission per Order</a:t>
            </a:r>
          </a:p>
          <a:p>
            <a:r>
              <a:rPr lang="en-US" dirty="0"/>
              <a:t>FOODIEXPRESS earns a fixed </a:t>
            </a:r>
            <a:r>
              <a:rPr lang="en-US" b="1" dirty="0"/>
              <a:t>percentage commission</a:t>
            </a:r>
            <a:r>
              <a:rPr lang="en-US" dirty="0"/>
              <a:t> from each order placed through the platform.</a:t>
            </a:r>
          </a:p>
          <a:p>
            <a:r>
              <a:rPr lang="en-US" dirty="0"/>
              <a:t>Restaurants keep the remaining amount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2. Delivery Fee Split</a:t>
            </a:r>
          </a:p>
          <a:p>
            <a:r>
              <a:rPr lang="en-US" dirty="0"/>
              <a:t>Delivery charges paid by customers are shared between:</a:t>
            </a:r>
          </a:p>
          <a:p>
            <a:pPr lvl="1"/>
            <a:r>
              <a:rPr lang="en-US" dirty="0"/>
              <a:t>FOODIEXPRESS (platform fee)</a:t>
            </a:r>
          </a:p>
          <a:p>
            <a:pPr lvl="1"/>
            <a:r>
              <a:rPr lang="en-US" dirty="0"/>
              <a:t>Delivery partner (if applicable)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Subscription-Based Revenue (Premium Restaurants)</a:t>
            </a:r>
          </a:p>
          <a:p>
            <a:r>
              <a:rPr lang="en-US" dirty="0"/>
              <a:t>Restaurants opting for premium features contribute a </a:t>
            </a:r>
            <a:r>
              <a:rPr lang="en-US" b="1" dirty="0"/>
              <a:t>monthly subscription fee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Promotional Revenue</a:t>
            </a:r>
          </a:p>
          <a:p>
            <a:r>
              <a:rPr lang="en-US" dirty="0"/>
              <a:t>Restaurants can pay to be </a:t>
            </a:r>
            <a:r>
              <a:rPr lang="en-US" b="1" dirty="0"/>
              <a:t>featured</a:t>
            </a:r>
            <a:r>
              <a:rPr lang="en-US" dirty="0"/>
              <a:t>, boosting visibility and generating extra platform revenue.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8769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5600" b="1" dirty="0"/>
              <a:t>1. Concept &amp; Requirement Definition</a:t>
            </a:r>
          </a:p>
          <a:p>
            <a:r>
              <a:rPr lang="en-US" sz="5600" dirty="0"/>
              <a:t>Identified user needs, market gaps &amp; core features</a:t>
            </a:r>
          </a:p>
          <a:p>
            <a:r>
              <a:rPr lang="en-US" sz="5600" dirty="0"/>
              <a:t>Finalized architecture and technology stack</a:t>
            </a:r>
          </a:p>
          <a:p>
            <a:br>
              <a:rPr lang="en-US" sz="5600" dirty="0"/>
            </a:br>
            <a:endParaRPr lang="en-US" sz="5600" dirty="0"/>
          </a:p>
          <a:p>
            <a:r>
              <a:rPr lang="en-US" sz="5600" b="1" dirty="0"/>
              <a:t>2. Prototype Development</a:t>
            </a:r>
          </a:p>
          <a:p>
            <a:r>
              <a:rPr lang="en-US" sz="5600" dirty="0"/>
              <a:t>Built initial UI screens</a:t>
            </a:r>
          </a:p>
          <a:p>
            <a:r>
              <a:rPr lang="en-US" sz="5600" dirty="0"/>
              <a:t>Implemented core features: food browsing, cart, ordering</a:t>
            </a:r>
          </a:p>
          <a:p>
            <a:br>
              <a:rPr lang="en-US" sz="5600" dirty="0"/>
            </a:br>
            <a:endParaRPr lang="en-US" sz="5600" dirty="0"/>
          </a:p>
          <a:p>
            <a:r>
              <a:rPr lang="en-US" sz="5600" b="1" dirty="0"/>
              <a:t>3. AI Recommendation Engine (MVP)</a:t>
            </a:r>
          </a:p>
          <a:p>
            <a:r>
              <a:rPr lang="en-US" sz="5600" dirty="0"/>
              <a:t>Added basic rule-based food suggestions</a:t>
            </a:r>
          </a:p>
          <a:p>
            <a:r>
              <a:rPr lang="en-US" sz="5600" dirty="0"/>
              <a:t>Integrated into homepage &amp; restaurant pages</a:t>
            </a:r>
          </a:p>
          <a:p>
            <a:br>
              <a:rPr lang="en-US" sz="5600" dirty="0"/>
            </a:br>
            <a:endParaRPr lang="en-US" sz="5600" dirty="0"/>
          </a:p>
          <a:p>
            <a:r>
              <a:rPr lang="en-US" sz="5600" b="1" dirty="0"/>
              <a:t>4. Real-Time Payment &amp; Tracking Integration</a:t>
            </a:r>
          </a:p>
          <a:p>
            <a:r>
              <a:rPr lang="en-US" sz="5600" dirty="0"/>
              <a:t>Connected to payment gateway</a:t>
            </a:r>
          </a:p>
          <a:p>
            <a:r>
              <a:rPr lang="en-US" sz="5600" dirty="0"/>
              <a:t>Implemented live order status &amp; map tracking</a:t>
            </a:r>
          </a:p>
          <a:p>
            <a:br>
              <a:rPr lang="en-US" sz="5600" dirty="0"/>
            </a:br>
            <a:endParaRPr lang="en-US" sz="5600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600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11E58-79FD-AE5B-6C90-170D9A58E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 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8F578-CD1D-D6B8-0CC8-4D24E1461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5. Testing &amp; Refinement</a:t>
            </a:r>
          </a:p>
          <a:p>
            <a:r>
              <a:rPr lang="en-US" sz="2400" dirty="0"/>
              <a:t>Functional, performance &amp; UAT testing completed</a:t>
            </a:r>
          </a:p>
          <a:p>
            <a:r>
              <a:rPr lang="en-US" sz="2400" dirty="0"/>
              <a:t>Fixed issues and improved UX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6. Deployment Readiness</a:t>
            </a:r>
          </a:p>
          <a:p>
            <a:r>
              <a:rPr lang="en-US" sz="2400" dirty="0"/>
              <a:t>Backend, frontend &amp; database fully integrated</a:t>
            </a:r>
          </a:p>
          <a:p>
            <a:r>
              <a:rPr lang="en-US" sz="2400" dirty="0"/>
              <a:t>Project ready for pilot launch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598A2-9162-1C9A-1562-413D304C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491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Total Budget, Required Support and Regulation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💰 Total Budget</a:t>
            </a:r>
          </a:p>
          <a:p>
            <a:r>
              <a:rPr lang="en-IN" dirty="0"/>
              <a:t>Estimated initial development &amp; launch cost:</a:t>
            </a:r>
          </a:p>
          <a:p>
            <a:r>
              <a:rPr lang="en-IN" b="1" dirty="0"/>
              <a:t>Development &amp; Design:</a:t>
            </a:r>
            <a:r>
              <a:rPr lang="en-IN" dirty="0"/>
              <a:t> ₹40,000 – ₹60,000</a:t>
            </a:r>
          </a:p>
          <a:p>
            <a:r>
              <a:rPr lang="en-IN" b="1" dirty="0"/>
              <a:t>Hosting &amp; Deployment:</a:t>
            </a:r>
            <a:r>
              <a:rPr lang="en-IN" dirty="0"/>
              <a:t> ₹5,000 – ₹10,000 per year</a:t>
            </a:r>
          </a:p>
          <a:p>
            <a:r>
              <a:rPr lang="en-IN" b="1" dirty="0"/>
              <a:t>Testing &amp; Tools:</a:t>
            </a:r>
            <a:r>
              <a:rPr lang="en-IN" dirty="0"/>
              <a:t> ₹5,000</a:t>
            </a:r>
          </a:p>
          <a:p>
            <a:r>
              <a:rPr lang="en-IN" b="1" dirty="0"/>
              <a:t>Marketing &amp; Promotion:</a:t>
            </a:r>
            <a:r>
              <a:rPr lang="en-IN" dirty="0"/>
              <a:t> ₹10,000 – ₹20,000</a:t>
            </a:r>
          </a:p>
          <a:p>
            <a:r>
              <a:rPr lang="en-IN" b="1" dirty="0"/>
              <a:t>Contingency:</a:t>
            </a:r>
            <a:r>
              <a:rPr lang="en-IN" dirty="0"/>
              <a:t> ₹5,000</a:t>
            </a:r>
          </a:p>
          <a:p>
            <a:r>
              <a:rPr lang="en-IN" b="1" dirty="0"/>
              <a:t>➡ Total Estimated Budget: ₹60,000 – ₹95,000</a:t>
            </a:r>
            <a:endParaRPr lang="en-IN" dirty="0"/>
          </a:p>
          <a:p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FD44F-28D2-015F-23DF-3536B74E7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D6BBF-4142-85F5-CD5A-67EA2FC2F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🤝 Required Support</a:t>
            </a:r>
          </a:p>
          <a:p>
            <a:r>
              <a:rPr lang="en-IN" b="1" dirty="0"/>
              <a:t>Technical Support:</a:t>
            </a:r>
            <a:endParaRPr lang="en-IN" dirty="0"/>
          </a:p>
          <a:p>
            <a:pPr lvl="1"/>
            <a:r>
              <a:rPr lang="en-IN" dirty="0"/>
              <a:t>Cloud hosting support</a:t>
            </a:r>
          </a:p>
          <a:p>
            <a:pPr lvl="1"/>
            <a:r>
              <a:rPr lang="en-IN" dirty="0"/>
              <a:t>Payment gateway onboarding assistance</a:t>
            </a:r>
          </a:p>
          <a:p>
            <a:r>
              <a:rPr lang="en-IN" b="1" dirty="0"/>
              <a:t>Business Support:</a:t>
            </a:r>
            <a:endParaRPr lang="en-IN" dirty="0"/>
          </a:p>
          <a:p>
            <a:pPr lvl="1"/>
            <a:r>
              <a:rPr lang="en-IN" dirty="0"/>
              <a:t>Restaurant partnerships</a:t>
            </a:r>
          </a:p>
          <a:p>
            <a:pPr lvl="1"/>
            <a:r>
              <a:rPr lang="en-IN" dirty="0"/>
              <a:t>Local vendors onboarding</a:t>
            </a:r>
          </a:p>
          <a:p>
            <a:r>
              <a:rPr lang="en-IN" b="1" dirty="0"/>
              <a:t>Academic/Institutional Support:</a:t>
            </a:r>
            <a:endParaRPr lang="en-IN" dirty="0"/>
          </a:p>
          <a:p>
            <a:pPr lvl="1"/>
            <a:r>
              <a:rPr lang="en-IN" dirty="0"/>
              <a:t>Access to labs, servers, mentors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📜 Regulations &amp; Compliance</a:t>
            </a:r>
          </a:p>
          <a:p>
            <a:r>
              <a:rPr lang="en-IN" b="1" dirty="0"/>
              <a:t>FSSAI compliance</a:t>
            </a:r>
            <a:r>
              <a:rPr lang="en-IN" dirty="0"/>
              <a:t> for partnered restaurants</a:t>
            </a:r>
          </a:p>
          <a:p>
            <a:r>
              <a:rPr lang="en-IN" b="1" dirty="0"/>
              <a:t>Data Privacy &amp; Protection:</a:t>
            </a:r>
            <a:r>
              <a:rPr lang="en-IN" dirty="0"/>
              <a:t> No storage of sensitive payment details</a:t>
            </a:r>
          </a:p>
          <a:p>
            <a:r>
              <a:rPr lang="en-IN" b="1" dirty="0"/>
              <a:t>UPI/Payment Gateway Compliance:</a:t>
            </a:r>
            <a:r>
              <a:rPr lang="en-IN" dirty="0"/>
              <a:t> Must follow RBI guidelines</a:t>
            </a:r>
          </a:p>
          <a:p>
            <a:r>
              <a:rPr lang="en-IN" b="1" dirty="0"/>
              <a:t>Content Policies:</a:t>
            </a:r>
            <a:r>
              <a:rPr lang="en-IN" dirty="0"/>
              <a:t> Only verified restaurants and safe menu listings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F9065-08DA-23C4-5546-E9A022692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073191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1281</Words>
  <Application>Microsoft Office PowerPoint</Application>
  <PresentationFormat>On-screen Show (4:3)</PresentationFormat>
  <Paragraphs>169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5_Office Theme</vt:lpstr>
      <vt:lpstr>Food Delivery Website</vt:lpstr>
      <vt:lpstr>Problem Statement</vt:lpstr>
      <vt:lpstr>Product/ Solution - Innovation</vt:lpstr>
      <vt:lpstr>How It Solves the Problems</vt:lpstr>
      <vt:lpstr>Type of Innovation </vt:lpstr>
      <vt:lpstr>Product/ Solution - Readiness Level</vt:lpstr>
      <vt:lpstr>Post the images of  product </vt:lpstr>
      <vt:lpstr>Team Size, Background, Strength /Capability and Resources</vt:lpstr>
      <vt:lpstr>Market Landscape - Market Potential, Competitors</vt:lpstr>
      <vt:lpstr>Market Landscape - Market Potential, Competitors</vt:lpstr>
      <vt:lpstr>Business Model &amp; Strategy</vt:lpstr>
      <vt:lpstr>Business Model</vt:lpstr>
      <vt:lpstr>Revenue Sharing:</vt:lpstr>
      <vt:lpstr>Product Milestones</vt:lpstr>
      <vt:lpstr>Product Milestones</vt:lpstr>
      <vt:lpstr>Total Budget, Required Support and Regulation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template of PPT -  Application for Pitching</dc:title>
  <dc:creator>Admin</dc:creator>
  <cp:lastModifiedBy>Tejas .k</cp:lastModifiedBy>
  <cp:revision>5</cp:revision>
  <dcterms:created xsi:type="dcterms:W3CDTF">2017-07-03T16:53:36Z</dcterms:created>
  <dcterms:modified xsi:type="dcterms:W3CDTF">2025-12-12T11:47:03Z</dcterms:modified>
</cp:coreProperties>
</file>